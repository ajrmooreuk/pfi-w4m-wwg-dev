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E33"/>
          </a:solidFill>
          <a:ln/>
        </p:spPr>
      </p:sp>
      <p:sp>
        <p:nvSpPr>
          <p:cNvPr id="4" name="Shape 2"/>
          <p:cNvSpPr/>
          <p:nvPr/>
        </p:nvSpPr>
        <p:spPr>
          <a:xfrm>
            <a:off x="6446520" y="18288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2552" y="987552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1792224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2552" y="2596896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3401568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02552" y="420624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8288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2" y="987552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792224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05472" y="2596896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3401568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5472" y="420624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18288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987552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1792224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08392" y="2596896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3401568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420624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8288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987552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792224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1312" y="2596896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3401568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11312" y="4206240"/>
            <a:ext cx="347472" cy="420624"/>
          </a:xfrm>
          <a:prstGeom prst="rect">
            <a:avLst/>
          </a:prstGeom>
          <a:solidFill>
            <a:srgbClr val="102535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502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D2B4E"/>
                </a:solidFill>
              </a:rPr>
              <a:t>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261872" y="5669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MeatTrackAI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" y="109728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Outlook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Excel Integration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58368" y="2834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Intelligence Platform  ·  AU→UK Inbound Reefer Container Intelligence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3401568"/>
            <a:ext cx="1298448" cy="246888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401568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75688" y="3401568"/>
            <a:ext cx="1298448" cy="246888"/>
          </a:xfrm>
          <a:prstGeom prst="rect">
            <a:avLst/>
          </a:prstGeom>
          <a:solidFill>
            <a:srgbClr val="143020"/>
          </a:solidFill>
          <a:ln w="12700">
            <a:solidFill>
              <a:srgbClr val="143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5688" y="3401568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93008" y="3401568"/>
            <a:ext cx="1298448" cy="246888"/>
          </a:xfrm>
          <a:prstGeom prst="rect">
            <a:avLst/>
          </a:prstGeom>
          <a:solidFill>
            <a:srgbClr val="3A2800"/>
          </a:solidFill>
          <a:ln w="12700">
            <a:solidFill>
              <a:srgbClr val="3A2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3401568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7-Sheet Excel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10328" y="3401568"/>
            <a:ext cx="1298448" cy="246888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401568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LSOC inoaav7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8368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PF-Core Platform Instance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Meat Import Intelligence — Jan–Mar 2026 Pilot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MeatTrackAI automated the full AU→UK inbound container lifecycle — from carrier email to customer alert — eliminating manual inbox monitoring.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1965960" cy="6400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0160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1812341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VOYAGES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88720"/>
            <a:ext cx="196596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280160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42032" y="1812341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COVERED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88720"/>
            <a:ext cx="196596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280160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18304" y="1812341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BREACH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11887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188720"/>
            <a:ext cx="19659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1280160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94576" y="1812341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ALERTS SENT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33172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⚡ 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423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2hrs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404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 from ETA change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client email dispatch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233172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64408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📄 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2423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fields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6440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automatically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carrier PDF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233172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44768" y="2423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83680" y="2423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44768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governance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spam processed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47872"/>
            <a:ext cx="859536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547872"/>
            <a:ext cx="64008" cy="47548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5478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Microsoft Graph API token reads the carrier inbox AND sends all client notifications — no separate SMTP or mail service required.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1605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BTOM Compliance: 100% pre-notification submissions on time  ·  Excel 7-sheet workbook auto-updated after each PDF parse  ·  Zero missed cold chain breaches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 · pdfplumber · schema.org/Trip · openpyxl · inoaav7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847088"/>
            <a:ext cx="8631936" cy="54864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749808"/>
            <a:ext cx="135331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49808"/>
            <a:ext cx="1353312" cy="457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932688"/>
            <a:ext cx="457200" cy="4572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" y="143560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" y="163677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governance filters 11 approved carrier senders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27632" y="1316736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8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" y="2011680"/>
            <a:ext cx="13533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011680"/>
            <a:ext cx="45720" cy="100584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2340864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governed — allowed/blocked logged to Excel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19072" y="749808"/>
            <a:ext cx="135331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19072" y="749808"/>
            <a:ext cx="1353312" cy="45720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20" name="Shape 18"/>
          <p:cNvSpPr/>
          <p:nvPr/>
        </p:nvSpPr>
        <p:spPr>
          <a:xfrm>
            <a:off x="2167128" y="932688"/>
            <a:ext cx="457200" cy="4572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6712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3936" y="143560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73936" y="163677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client credentials. One token reads + sends.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90672" y="1316736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8A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719072" y="2011680"/>
            <a:ext cx="13533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19072" y="2011680"/>
            <a:ext cx="45720" cy="1005840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27" name="Text 25"/>
          <p:cNvSpPr/>
          <p:nvPr/>
        </p:nvSpPr>
        <p:spPr>
          <a:xfrm>
            <a:off x="1792224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10512" y="2340864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 flow — no user interaction needed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82112" y="749808"/>
            <a:ext cx="135331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749808"/>
            <a:ext cx="1353312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0168" y="932688"/>
            <a:ext cx="457200" cy="4572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36976" y="143560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36976" y="163677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Body-first. 48 fields. Tagged [body]/[pdf].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53712" y="1316736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8A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182112" y="2011680"/>
            <a:ext cx="13533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2112" y="2011680"/>
            <a:ext cx="45720" cy="10058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8" name="Text 36"/>
          <p:cNvSpPr/>
          <p:nvPr/>
        </p:nvSpPr>
        <p:spPr>
          <a:xfrm>
            <a:off x="3255264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73552" y="2340864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parse primary — PDF supplements weight, HS code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45152" y="749808"/>
            <a:ext cx="135331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45152" y="749808"/>
            <a:ext cx="1353312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2" name="Shape 40"/>
          <p:cNvSpPr/>
          <p:nvPr/>
        </p:nvSpPr>
        <p:spPr>
          <a:xfrm>
            <a:off x="5093208" y="932688"/>
            <a:ext cx="457200" cy="4572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9320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00016" y="143560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Tracker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0016" y="163677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schema.org/Trip + LSOC inoaav7 ontology.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016752" y="1316736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8A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45152" y="2011680"/>
            <a:ext cx="13533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45152" y="2011680"/>
            <a:ext cx="45720" cy="10058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9" name="Text 47"/>
          <p:cNvSpPr/>
          <p:nvPr/>
        </p:nvSpPr>
        <p:spPr>
          <a:xfrm>
            <a:off x="4718304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36592" y="2340864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writes · append eventLog · Supabase-compatible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08192" y="749808"/>
            <a:ext cx="135331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08192" y="749808"/>
            <a:ext cx="1353312" cy="4572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53" name="Shape 51"/>
          <p:cNvSpPr/>
          <p:nvPr/>
        </p:nvSpPr>
        <p:spPr>
          <a:xfrm>
            <a:off x="6556248" y="932688"/>
            <a:ext cx="457200" cy="4572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5624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163056" y="143560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7-Sheet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63056" y="163677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Auto-formatted via openpyxl after each parse.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479792" y="1316736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8A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108192" y="2011680"/>
            <a:ext cx="13533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08192" y="2011680"/>
            <a:ext cx="45720" cy="100584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60" name="Text 58"/>
          <p:cNvSpPr/>
          <p:nvPr/>
        </p:nvSpPr>
        <p:spPr>
          <a:xfrm>
            <a:off x="6181344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199632" y="2340864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sheets: Status · Impact · ColdChain · Inbox · Notify · BTOM · Risk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571232" y="749808"/>
            <a:ext cx="135331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571232" y="749808"/>
            <a:ext cx="135331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4" name="Shape 62"/>
          <p:cNvSpPr/>
          <p:nvPr/>
        </p:nvSpPr>
        <p:spPr>
          <a:xfrm>
            <a:off x="8019288" y="932688"/>
            <a:ext cx="457200" cy="4572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1928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626096" y="143560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sendMail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626096" y="163677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emails via Graph API. Dedup. Impact-coded.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571232" y="2011680"/>
            <a:ext cx="1353312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71232" y="2011680"/>
            <a:ext cx="4572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0" name="Text 68"/>
          <p:cNvSpPr/>
          <p:nvPr/>
        </p:nvSpPr>
        <p:spPr>
          <a:xfrm>
            <a:off x="7644384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7662672" y="2340864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HTML · Dedup same-day · Saves to Sent Items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74320" y="44988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cron via Azure Functions · Full 3-PDF pipeline completes in &lt; 90 seconds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Setup &amp; Domain Governance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One-Time Configuration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86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Entra ID — 5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310896" cy="310896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" y="1097280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1335024"/>
            <a:ext cx="3511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portal.azure.com → App registrations → New registration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MeatTrackAI-Pipeline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310896" cy="310896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83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1810512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Permissions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" y="2048256"/>
            <a:ext cx="3511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permissions → Graph → Application: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Mail.Read · Mail.ReadWrite · Mail.Send → Admin consent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310896" cy="310896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" y="2523744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Secret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" y="2761488"/>
            <a:ext cx="3511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&amp; secrets → New client secret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value immediately — shown once only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310896" cy="310896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10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" y="3236976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.env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" y="3474720"/>
            <a:ext cx="3511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AZURE_TENANT_ID · AZURE_CLIENT_ID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AZURE_CLIENT_SECRET · MAILBOX_EMAIL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310896" cy="310896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3950208"/>
            <a:ext cx="3511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" y="4187952"/>
            <a:ext cx="3511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src/outlook_reader.py --test-connection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token acquisition + inbox access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749808"/>
            <a:ext cx="0" cy="4069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786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Governance Rules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097280"/>
            <a:ext cx="4069080" cy="2743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0" name="Text 28"/>
          <p:cNvSpPr/>
          <p:nvPr/>
        </p:nvSpPr>
        <p:spPr>
          <a:xfrm>
            <a:off x="4837176" y="1097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45936" y="1097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64424" y="1097280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00600" y="1389888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389888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@maersk.com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45936" y="1389888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936992" y="1449324"/>
            <a:ext cx="804672" cy="16459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144932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00600" y="1691640"/>
            <a:ext cx="40690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691640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@hapag-lloyd.com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45936" y="1691640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936992" y="1751076"/>
            <a:ext cx="804672" cy="16459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175107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00600" y="1993392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1993392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@msc.com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45936" y="1993392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36992" y="2052828"/>
            <a:ext cx="804672" cy="16459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36992" y="2052828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2295144"/>
            <a:ext cx="40690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2295144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@cma-cgm.com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45936" y="2295144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936992" y="2354580"/>
            <a:ext cx="804672" cy="16459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36992" y="235458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00600" y="2596896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2596896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@oocl.com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45936" y="2596896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936992" y="2656332"/>
            <a:ext cx="804672" cy="16459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36992" y="2656332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800600" y="2898648"/>
            <a:ext cx="40690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2898648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@tesco.co.uk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45936" y="2898648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936992" y="2958084"/>
            <a:ext cx="804672" cy="164592"/>
          </a:xfrm>
          <a:prstGeom prst="rect">
            <a:avLst/>
          </a:prstGeom>
          <a:solidFill>
            <a:srgbClr val="E0F7FA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36992" y="295808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00600" y="3200400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64608" y="3200400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345936" y="3200400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936992" y="3259836"/>
            <a:ext cx="804672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36992" y="325983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800600" y="3502152"/>
            <a:ext cx="4069080" cy="28346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3502152"/>
            <a:ext cx="14447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@freightnews.com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345936" y="3502152"/>
            <a:ext cx="151790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936992" y="3561588"/>
            <a:ext cx="804672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36992" y="3561588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Data Capture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· Body-First Strategy · 48 Fields Per Document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49808"/>
            <a:ext cx="2834640" cy="47548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7680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[body] Email Body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parse — no attachment needed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335024"/>
            <a:ext cx="100584" cy="1005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075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Reference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100584" cy="1005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6367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93392"/>
            <a:ext cx="100584" cy="1005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96596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Revised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100584" cy="1005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951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reason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100584" cy="1005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243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deviation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100584" cy="1005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9535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status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10128"/>
            <a:ext cx="100584" cy="1005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28269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IPAFFS reference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0" y="2139696"/>
            <a:ext cx="146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7A8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18688" y="749808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749808"/>
            <a:ext cx="2834640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7680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[pdf] PDF Attachment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1005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precision fields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28416" y="1335024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3075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Code (tariff)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28416" y="1664208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6367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weight (kg)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28416" y="1993392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196596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weight (kg)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28416" y="2322576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2951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number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28416" y="2651760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26243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cert ref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28416" y="2980944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29535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number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28416" y="3310128"/>
            <a:ext cx="100584" cy="1005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328269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description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71616" y="2139696"/>
            <a:ext cx="146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7A8A"/>
                </a:solidFill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1344" y="749808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81344" y="749808"/>
            <a:ext cx="2834640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272784" y="7680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[merged] Merged Record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72784" y="1005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wins on conflict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91072" y="1335024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13075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structured fields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91072" y="1664208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16367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inoaav7 validated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91072" y="199339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196596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schema.org/Trip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91072" y="232257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22951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[body]/[pdf] tags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91072" y="265176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55664" y="26243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Excel + JSON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91072" y="2980944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5664" y="29535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impact triggered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91072" y="3310128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328269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notification queued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56032" y="4114800"/>
            <a:ext cx="2029968" cy="347472"/>
          </a:xfrm>
          <a:prstGeom prst="rect">
            <a:avLst/>
          </a:prstGeom>
          <a:solidFill>
            <a:srgbClr val="E0F7FA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" y="411480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60704" y="411480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accuracy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432304" y="4114800"/>
            <a:ext cx="2029968" cy="347472"/>
          </a:xfrm>
          <a:prstGeom prst="rect">
            <a:avLst/>
          </a:prstGeom>
          <a:solidFill>
            <a:srgbClr val="E0F7FA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32304" y="411480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5min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3236976" y="411480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to Excel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08576" y="4114800"/>
            <a:ext cx="2029968" cy="347472"/>
          </a:xfrm>
          <a:prstGeom prst="rect">
            <a:avLst/>
          </a:prstGeom>
          <a:solidFill>
            <a:srgbClr val="E0F7FA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08576" y="411480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46-48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413248" y="411480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PDF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784848" y="4114800"/>
            <a:ext cx="2029968" cy="347472"/>
          </a:xfrm>
          <a:prstGeom prst="rect">
            <a:avLst/>
          </a:prstGeom>
          <a:solidFill>
            <a:srgbClr val="E0F7FA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84848" y="411480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PDFs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589520" y="411480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batch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— 7 Sheets Auto-Generated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· Written after every PDF parse · All 12 containers · Professional colour-coding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1993392" cy="6400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" y="804672"/>
            <a:ext cx="54864" cy="14173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90525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Tracker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" y="1261872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containers · ETA · temp · breach · risk · orders at risk · COUNTIF summary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2304" y="804672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32304" y="804672"/>
            <a:ext cx="1993392" cy="6400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2304" y="804672"/>
            <a:ext cx="54864" cy="1417320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9504" y="90525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Impact Analysis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32888" y="1261872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5-class: ON_TIME / ADVISORY / DELAY / SIGNIFICANT / CRITICAL · cold chain escalation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804672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804672"/>
            <a:ext cx="199339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08576" y="804672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65776" y="90525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Monitor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261872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Peter telemetry · deviation · breach hours · shelf-life reduction estimate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84848" y="804672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84848" y="804672"/>
            <a:ext cx="1993392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6784848" y="804672"/>
            <a:ext cx="54864" cy="1417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6912864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42048" y="90525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Inbox Log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85432" y="1261872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inbox emails · ALLOWED/BLOCKED domain governance · container reference tags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237744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2377440"/>
            <a:ext cx="1993392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Shape 30"/>
          <p:cNvSpPr/>
          <p:nvPr/>
        </p:nvSpPr>
        <p:spPr>
          <a:xfrm>
            <a:off x="256032" y="2377440"/>
            <a:ext cx="54864" cy="1417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" y="2478024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Notifications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" y="2834640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HTML emails dispatched · recipient · impact class · Graph API send status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32304" y="237744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32304" y="2377440"/>
            <a:ext cx="199339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2304" y="2377440"/>
            <a:ext cx="54864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0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89504" y="2478024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BTOM Compliance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32888" y="2834640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containers · 48hr/72hr IPAFFS deadlines · CHED-PP status · BCP booking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08576" y="2377440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08576" y="2377440"/>
            <a:ext cx="1993392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4" name="Shape 42"/>
          <p:cNvSpPr/>
          <p:nvPr/>
        </p:nvSpPr>
        <p:spPr>
          <a:xfrm>
            <a:off x="4608576" y="2377440"/>
            <a:ext cx="54864" cy="14173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5" name="Text 43"/>
          <p:cNvSpPr/>
          <p:nvPr/>
        </p:nvSpPr>
        <p:spPr>
          <a:xfrm>
            <a:off x="4736592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65776" y="2478024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Events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09160" y="2834640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events Jan–Mar 2026 · Houthi · Hormuz · strike · storm · BCP backlog · ceasefire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84848" y="2377440"/>
            <a:ext cx="1993392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2468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Key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76288" y="2779776"/>
            <a:ext cx="182880" cy="16459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14032" y="277977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On Time / No Breach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76288" y="3026664"/>
            <a:ext cx="182880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14032" y="302666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Delay / Warning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76288" y="3273552"/>
            <a:ext cx="182880" cy="164592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14032" y="32735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Critical / Breach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76288" y="3520440"/>
            <a:ext cx="182880" cy="164592"/>
          </a:xfrm>
          <a:prstGeom prst="rect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14032" y="352044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Container Reference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Impact Classification Matrix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→ order impact → client notification dispatch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8631936" cy="292608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74980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Class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47088" y="7498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Days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35808" y="7498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81928" y="74980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Breach Escalation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060704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" y="1179576"/>
            <a:ext cx="138988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179576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73936" y="106070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0607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required — silent log only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16752" y="1060704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773936"/>
            <a:ext cx="8631936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" y="1892808"/>
            <a:ext cx="1389888" cy="237744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892808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73936" y="177393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to +3d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177393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email to customer — monitor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16752" y="1773936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maintained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487168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" y="2606040"/>
            <a:ext cx="1389888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606040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73936" y="248716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to +7d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248716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notice + reschedule cold store + update ATP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16752" y="2487168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SIGNIFICANT class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200400"/>
            <a:ext cx="8631936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" y="3319272"/>
            <a:ext cx="1389888" cy="237744"/>
          </a:xfrm>
          <a:prstGeom prst="rect">
            <a:avLst/>
          </a:prstGeom>
          <a:solidFill>
            <a:srgbClr val="FDECEA"/>
          </a:solidFill>
          <a:ln w="6350">
            <a:solidFill>
              <a:srgbClr val="9B2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319272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73936" y="32004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to +14d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88920" y="320040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notification + manager approval + SLA review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16752" y="3200400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 class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913632"/>
            <a:ext cx="863193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" y="4032504"/>
            <a:ext cx="138988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403250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73936" y="391363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14 days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391363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alert + force majeure review + legal caveat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16752" y="3913632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 + QA action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4700016"/>
            <a:ext cx="8631936" cy="256032"/>
          </a:xfrm>
          <a:prstGeom prst="rect">
            <a:avLst/>
          </a:prstGeom>
          <a:solidFill>
            <a:srgbClr val="E0F7FA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7000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breach escalates class by 1 level AND triggers mandatory QA assessment + CHED-PP breach declaration on IPAFFS.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12-Container Fleet — Jan–Mar 2026 Scenarios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risk events · 7 ETA deviations · 1 critical cold chain breach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27432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7132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45920" y="71323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70048" y="71323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22192" y="71323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65776" y="71323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0" y="713232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Class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22592" y="71323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" y="1005840"/>
            <a:ext cx="863193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00584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MRKU4821073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27632" y="1005840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33472" y="100584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Beef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67328" y="1005840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Reroute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74336" y="100584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42432" y="1069848"/>
            <a:ext cx="109728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0698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1330452"/>
            <a:ext cx="8631936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3304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MRKU7734901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27632" y="1330452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33472" y="133045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Chilled Lamb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67328" y="1330452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133045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42432" y="1394460"/>
            <a:ext cx="1097280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13944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032" y="1655064"/>
            <a:ext cx="863193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16550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TCKU8820445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27632" y="1655064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CGM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33472" y="16550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Lamb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67328" y="165506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Steam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74336" y="165506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42432" y="1719072"/>
            <a:ext cx="109728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17190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" y="1979676"/>
            <a:ext cx="8631936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1979676"/>
            <a:ext cx="64008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19796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HLXU9901234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627632" y="1979676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Hapag-Lloyd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633472" y="197967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Chilled Beef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67328" y="1979676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Breach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74336" y="197967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42432" y="2043684"/>
            <a:ext cx="1097280" cy="182880"/>
          </a:xfrm>
          <a:prstGeom prst="rect">
            <a:avLst/>
          </a:prstGeom>
          <a:solidFill>
            <a:srgbClr val="FEE2E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432" y="20436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876288" y="1979676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150hrs breach · QA required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56032" y="2304288"/>
            <a:ext cx="863193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2304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MSCU5512087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627632" y="2304288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33472" y="23042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Beef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767328" y="230428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Divert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74336" y="2304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42432" y="2368296"/>
            <a:ext cx="109728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42432" y="23682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56032" y="2628900"/>
            <a:ext cx="8631936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26289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OOLU6634128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627632" y="2628900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OOCL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633472" y="26289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Lamb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767328" y="2628900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Divert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74336" y="26289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42432" y="2692908"/>
            <a:ext cx="1097280" cy="182880"/>
          </a:xfrm>
          <a:prstGeom prst="rect">
            <a:avLst/>
          </a:prstGeom>
          <a:solidFill>
            <a:srgbClr val="FDECEA"/>
          </a:solidFill>
          <a:ln w="6350">
            <a:solidFill>
              <a:srgbClr val="9B2C2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42432" y="26929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2953512"/>
            <a:ext cx="863193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29535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MSDU3310092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627632" y="2953512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633472" y="29535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Beef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767328" y="2953512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974336" y="295351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742432" y="3017520"/>
            <a:ext cx="1097280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42432" y="3017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6032" y="3278124"/>
            <a:ext cx="8631936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32781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CMAU7712034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627632" y="3278124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CGM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633472" y="327812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Lamb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767328" y="32781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Cape+Suez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974336" y="327812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742432" y="3342132"/>
            <a:ext cx="109728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42432" y="33421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56032" y="3602736"/>
            <a:ext cx="863193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7472" y="360273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HASU4490012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627632" y="3602736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Hapag-Lloyd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2633472" y="360273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Chilled Beef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767328" y="3602736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Steam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974336" y="360273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742432" y="3666744"/>
            <a:ext cx="109728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42432" y="36667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56032" y="3927348"/>
            <a:ext cx="8631936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7472" y="392734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MRKU3319021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627632" y="3927348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2633472" y="39273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Beef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3767328" y="392734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974336" y="392734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742432" y="3991356"/>
            <a:ext cx="1097280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42432" y="39913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256032" y="4251960"/>
            <a:ext cx="8631936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47472" y="42519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EVRU8821100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627632" y="4251960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2633472" y="42519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Chilled Lamb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3767328" y="4251960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Ceasefire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974336" y="42519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-2d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742432" y="4315968"/>
            <a:ext cx="1097280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42432" y="4315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876288" y="4251960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improved by ceasefire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56032" y="4576572"/>
            <a:ext cx="8631936" cy="3108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47472" y="457657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COSU6678234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1627632" y="4576572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COSCO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2633472" y="45765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Beef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3767328" y="4576572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4974336" y="45765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742432" y="4640580"/>
            <a:ext cx="1097280" cy="18288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742432" y="46405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ON_TIME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Notification Emails — Graph API sendMail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Colour-coded by impact · 8 dispatched · Dedup prevents duplicate sends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418795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49808"/>
            <a:ext cx="4187952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6809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Notice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3968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MRKU4821073 · Maersk · MV Maersk Hobart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4151376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6187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29968" y="12618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572768"/>
            <a:ext cx="4151376" cy="29260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7276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ETA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29968" y="15727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2026-03-26 (+4.5 days)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83664"/>
            <a:ext cx="4151376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8366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9968" y="18836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Tilbury (GBTIL)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94560"/>
            <a:ext cx="4151376" cy="29260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1945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29968" y="21945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— no breach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23744"/>
            <a:ext cx="4151376" cy="219456"/>
          </a:xfrm>
          <a:prstGeom prst="rect">
            <a:avLst/>
          </a:prstGeom>
          <a:solidFill>
            <a:srgbClr val="FEF3C7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523744"/>
            <a:ext cx="54864" cy="2194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52374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of Good Hope reroute — Red Sea/Houthi risk. +8d offset by speed.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816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Orders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54096"/>
            <a:ext cx="4151376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540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ORD-2241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25296" y="3054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Tesco · 18,000 kg frozen beef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29584" y="305409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346704"/>
            <a:ext cx="4151376" cy="27432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467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ORD-2244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225296" y="33467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Brakes · 6,000 kg mince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29584" y="334670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3694176"/>
            <a:ext cx="4187952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72160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Actions: Confirm revised delivery window · Reschedule cold store slot · Update ATP dates in your order system.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4645152"/>
            <a:ext cx="4187952" cy="20116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64515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reefer-inbox@ukpremiummeats.co.uk · MeatTrackAI · 2026-03-26 14:32 UTC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00016" y="749808"/>
            <a:ext cx="418795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0016" y="749808"/>
            <a:ext cx="418795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9744" y="76809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Immediate Action Required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9744" y="1005840"/>
            <a:ext cx="3968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HLXU9901234 · Hapag-Lloyd · MV Hapag San Francisco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18304" y="1261872"/>
            <a:ext cx="4151376" cy="237744"/>
          </a:xfrm>
          <a:prstGeom prst="rect">
            <a:avLst/>
          </a:prstGeom>
          <a:solidFill>
            <a:srgbClr val="FEE2E2"/>
          </a:solidFill>
          <a:ln w="8890">
            <a:solidFill>
              <a:srgbClr val="C039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18304" y="1261872"/>
            <a:ext cx="54864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1261872"/>
            <a:ext cx="3950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Cold Chain: +2.8°C vs set +1.0°C · 150hrs · Shelf life -7.5 days · QA required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18304" y="1554480"/>
            <a:ext cx="4151376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1554480"/>
            <a:ext cx="15910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ETA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37376" y="1554480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2026-04-16 (+6 days)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18304" y="1856232"/>
            <a:ext cx="4151376" cy="28346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9744" y="1856232"/>
            <a:ext cx="15910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Temp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37376" y="1856232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+2.8°C vs set +1.0°C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18304" y="2157984"/>
            <a:ext cx="4151376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2157984"/>
            <a:ext cx="15910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Hours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37376" y="2157984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hours cumulative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18304" y="2459736"/>
            <a:ext cx="4151376" cy="28346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2459736"/>
            <a:ext cx="15910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CHED-PP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37376" y="2459736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— declare breach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18304" y="2779776"/>
            <a:ext cx="4151376" cy="27432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9744" y="27797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ORD-2272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669280" y="2779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· 9,000 kg beef steaks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882128" y="277977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00016" y="3127248"/>
            <a:ext cx="4187952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91456" y="3154680"/>
            <a:ext cx="40050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Actions: QA team assess shelf-life · Declare breach on CHED-PP · Elevated BCP inspection · Prepare rejection/claim procedure · Contact carrier claims.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0016" y="4645152"/>
            <a:ext cx="4187952" cy="20116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91456" y="464515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reefer-inbox@ukpremiummeats.co.uk · MeatTrackAI · 2026-03-26 14:35 UTC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BTOM Compliance &amp; Risk Intelligence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IPAFFS pre-notifications · Geopolitical event log · 6 risk events Jan–Mar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863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BTOM / IPAFFS Compliance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61288"/>
            <a:ext cx="329184" cy="329184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61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0972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72hr Pre-Notification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325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IPAFFS submission required 72hrs before vessel ETA at UK Border Control Post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819656"/>
            <a:ext cx="329184" cy="329184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19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175564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CHED-PP Declaration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19842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all animal products. Temperature deviation MUST be declared.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478024"/>
            <a:ext cx="329184" cy="329184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41401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Inspection Slot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6426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Tilbury BCP (DP World) or Southampton BCP (DFDS). Slot must be pre-booked.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136392"/>
            <a:ext cx="329184" cy="329184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36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307238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Declaration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3009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HLXU9901234: breach declared. Elevated BCP inspection scrutiny expected.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94760"/>
            <a:ext cx="329184" cy="329184"/>
          </a:xfrm>
          <a:prstGeom prst="ellipse">
            <a:avLst/>
          </a:prstGeom>
          <a:solidFill>
            <a:srgbClr val="E0F7F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794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373075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593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MeatTrackAI flags BTOM deadline 72hrs out. Draft CHED-PP auto-generated.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749808"/>
            <a:ext cx="0" cy="4069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7863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&amp; Operational Risk Events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097280"/>
            <a:ext cx="4069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097280"/>
            <a:ext cx="45720" cy="5303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113385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13248" y="1152144"/>
            <a:ext cx="749808" cy="173736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1152144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17920" y="1124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Houthi Attack — Red Sea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73752" y="137160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reroute. +8d. 6 containers affected.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1673352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1673352"/>
            <a:ext cx="45720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17099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13248" y="1728216"/>
            <a:ext cx="749808" cy="173736"/>
          </a:xfrm>
          <a:prstGeom prst="rect">
            <a:avLst/>
          </a:prstGeom>
          <a:solidFill>
            <a:srgbClr val="FEE2E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1728216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170078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Closure — IRGC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73752" y="1947672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Diverted via Muscat. +4 days.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2249424"/>
            <a:ext cx="4069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2249424"/>
            <a:ext cx="45720" cy="5303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5" name="Text 43"/>
          <p:cNvSpPr/>
          <p:nvPr/>
        </p:nvSpPr>
        <p:spPr>
          <a:xfrm>
            <a:off x="4873752" y="22860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13248" y="2304288"/>
            <a:ext cx="749808" cy="173736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13248" y="2304288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17920" y="227685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Louis Strike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73752" y="2523744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Mauritius stevedore 3-5 days. +4 days.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2825496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2825496"/>
            <a:ext cx="45720" cy="5303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2" name="Text 50"/>
          <p:cNvSpPr/>
          <p:nvPr/>
        </p:nvSpPr>
        <p:spPr>
          <a:xfrm>
            <a:off x="4873752" y="286207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28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13248" y="2880360"/>
            <a:ext cx="749808" cy="173736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13248" y="2880360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17920" y="285292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Ocean Storm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73752" y="3099816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925hPa low. 200nm diversion. +3 days.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00600" y="3401568"/>
            <a:ext cx="4069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401568"/>
            <a:ext cx="45720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4873752" y="34381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13248" y="3456432"/>
            <a:ext cx="749808" cy="173736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13248" y="3456432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17920" y="342900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Tilbury BCP Backlog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73752" y="3675888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24-36hr BTOM inspection delays.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00600" y="3977640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3977640"/>
            <a:ext cx="45720" cy="530352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66" name="Text 64"/>
          <p:cNvSpPr/>
          <p:nvPr/>
        </p:nvSpPr>
        <p:spPr>
          <a:xfrm>
            <a:off x="4873752" y="40142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18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413248" y="4032504"/>
            <a:ext cx="749808" cy="173736"/>
          </a:xfrm>
          <a:prstGeom prst="rect">
            <a:avLst/>
          </a:prstGeom>
          <a:solidFill>
            <a:srgbClr val="FEF3C7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13248" y="4032504"/>
            <a:ext cx="7498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217920" y="400507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 Ceasefire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873752" y="425196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Suez partial reopening. EVRU -2d.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Agentic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Subagents · MCP Servers · LSOC inoaav7 Ontology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49808"/>
            <a:ext cx="2834640" cy="47548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7680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(SKILL.md)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knowledge · 30-50 tokens, on-demand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371600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371600"/>
            <a:ext cx="45720" cy="38404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081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ais-feed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API patterns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7472" y="1819656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819656"/>
            <a:ext cx="45720" cy="38404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562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captain-peter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02082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telemetry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7472" y="2267712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267712"/>
            <a:ext cx="45720" cy="38404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04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order-fulfilment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chain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2715768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715768"/>
            <a:ext cx="45720" cy="38404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7523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btom-compliance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9169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BTOM/IPAFFS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7472" y="3163824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163824"/>
            <a:ext cx="45720" cy="38404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lsoc-inoaav7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3649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registry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7472" y="3611880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611880"/>
            <a:ext cx="45720" cy="384048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484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notification-templates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38130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18688" y="74980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749808"/>
            <a:ext cx="283464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310128" y="7680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(.claude/agents)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10128" y="1005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task execution · Least-privilege tools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10128" y="1371600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0128" y="1371600"/>
            <a:ext cx="457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3419856" y="14081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19856" y="15727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Bash ONLY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310128" y="1819656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10128" y="1819656"/>
            <a:ext cx="457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3419856" y="18562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order-resolver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19856" y="202082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 + Bash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310128" y="2267712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10128" y="2267712"/>
            <a:ext cx="457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3419856" y="2304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btom-compliance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19856" y="24688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WebFetch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310128" y="2715768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10128" y="2715768"/>
            <a:ext cx="457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3419856" y="27523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notification-writer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19856" y="29169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disallowedTools: Bash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310128" y="3163824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10128" y="3163824"/>
            <a:ext cx="457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3419856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voyage-tracker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419856" y="33649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Bash + WebFetch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310128" y="3611880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10128" y="3611880"/>
            <a:ext cx="457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3419856" y="36484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route-risk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419856" y="381304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 + Read only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181344" y="74980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81344" y="749808"/>
            <a:ext cx="2834640" cy="4754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4" name="Text 62"/>
          <p:cNvSpPr/>
          <p:nvPr/>
        </p:nvSpPr>
        <p:spPr>
          <a:xfrm>
            <a:off x="6272784" y="7680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(.mcp.json)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72784" y="1005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connectivity · Auto-discovered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272784" y="1371600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72784" y="1371600"/>
            <a:ext cx="4572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8" name="Text 66"/>
          <p:cNvSpPr/>
          <p:nvPr/>
        </p:nvSpPr>
        <p:spPr>
          <a:xfrm>
            <a:off x="6382512" y="14081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graph-api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382512" y="15727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read + sendMail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272784" y="1819656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72784" y="1819656"/>
            <a:ext cx="4572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2" name="Text 70"/>
          <p:cNvSpPr/>
          <p:nvPr/>
        </p:nvSpPr>
        <p:spPr>
          <a:xfrm>
            <a:off x="6382512" y="18562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382512" y="202082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tracker + orders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272784" y="2267712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72784" y="2267712"/>
            <a:ext cx="4572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6" name="Text 74"/>
          <p:cNvSpPr/>
          <p:nvPr/>
        </p:nvSpPr>
        <p:spPr>
          <a:xfrm>
            <a:off x="6382512" y="2304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ais-feed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382512" y="246888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Datalastic REST positions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272784" y="2715768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72784" y="2715768"/>
            <a:ext cx="4572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80" name="Text 78"/>
          <p:cNvSpPr/>
          <p:nvPr/>
        </p:nvSpPr>
        <p:spPr>
          <a:xfrm>
            <a:off x="6382512" y="27523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captain-peter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382512" y="29169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reefer API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272784" y="3163824"/>
            <a:ext cx="261518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72784" y="3163824"/>
            <a:ext cx="4572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84" name="Text 82"/>
          <p:cNvSpPr/>
          <p:nvPr/>
        </p:nvSpPr>
        <p:spPr>
          <a:xfrm>
            <a:off x="6382512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382512" y="33649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 /inbox /outputs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256032" y="4681728"/>
            <a:ext cx="8631936" cy="274320"/>
          </a:xfrm>
          <a:prstGeom prst="rect">
            <a:avLst/>
          </a:prstGeom>
          <a:solidFill>
            <a:srgbClr val="E0F7FA"/>
          </a:solidFill>
          <a:ln w="6350">
            <a:solidFill>
              <a:srgbClr val="0A7A8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4048" y="4681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connects Claude to data · Skills teach Claude what to do with that data · Subagents execute tasks in isolation with least-privilege tool access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4864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5603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969264"/>
            <a:ext cx="329184" cy="3291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9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8961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Registration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152144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MeatTrackAI-Pipeline app in Entra ID. 15-minute setup. See Architecture Guide.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329184" cy="3291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664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Reefer Mailbox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192024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Graph API at reefer-inbox. Test with --dry-run. Validate domain governance.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505456"/>
            <a:ext cx="329184" cy="3291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05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4323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PoC with 3 Carrier PDFs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2688336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MRKU/HLXU/MSCU PDFs. Verify 48-field extraction. Review Excel output.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273552"/>
            <a:ext cx="329184" cy="3291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2004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Approval — Notification Templates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45643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DELAY + CRITICAL email previews. Approve tone and content before go-live.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4041648"/>
            <a:ext cx="329184" cy="329184"/>
          </a:xfrm>
          <a:prstGeom prst="ellipse">
            <a:avLst/>
          </a:prstGeom>
          <a:solidFill>
            <a:srgbClr val="0A7A8A"/>
          </a:solidFill>
          <a:ln w="12700">
            <a:solidFill>
              <a:srgbClr val="0A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9684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422452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cron (hourly). Key Vault credentials. Supabase JSONB. Multi-tenant.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846320"/>
            <a:ext cx="8641080" cy="45720"/>
          </a:xfrm>
          <a:prstGeom prst="rect">
            <a:avLst/>
          </a:prstGeom>
          <a:solidFill>
            <a:srgbClr val="0A7A8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88289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MeatTrackAI  ·  PF-Core Platform Instance  ·  LSOC inoaav7  ·  March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MeatTrackAI — Microsoft Outlook &amp; Excel Integration</dc:title>
  <dc:subject>PptxGenJS Presentation</dc:subject>
  <dc:creator>MeatTrackAI · PF-Core</dc:creator>
  <cp:lastModifiedBy>MeatTrackAI · PF-Core</cp:lastModifiedBy>
  <cp:revision>1</cp:revision>
  <dcterms:created xsi:type="dcterms:W3CDTF">2026-03-26T09:41:08Z</dcterms:created>
  <dcterms:modified xsi:type="dcterms:W3CDTF">2026-03-26T09:41:08Z</dcterms:modified>
</cp:coreProperties>
</file>